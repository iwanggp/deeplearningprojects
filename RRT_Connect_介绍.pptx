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423160"/>
            <a:ext cx="996696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4526280"/>
            <a:ext cx="996696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C8FF"/>
                </a:solidFill>
              </a:rPr>
              <a:t>RRT-Connect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Rapidly-exploring Random Tree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</a:rPr>
              <a:t>双向快速随机树路径规划算法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BB"/>
                </a:solidFill>
              </a:rPr>
              <a:t>Kuffner &amp; LaValle  |  ICRA 2000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问题背景：机器人路径规划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00" cy="2103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配置空间（C-Space）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机器人的「状态」不是 xyz 坐标，而是所有关节角的组合。
6 轴机械臂 → 6 维配置空间 (θ₁, θ₂, θ₃, θ₄, θ₅, θ₆)
障碍物在这 6 维空间中形成复杂的「禁区」。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5486400" cy="2011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564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为什么不用简单方法？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136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✗  直线插值：经常穿越障碍物，碰撞率高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70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✗  网格搜索（A*）：6维空间内存爆炸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28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✗  解析法：障碍物形状复杂无法建模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1A2D5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C-Space 示意（2D 简化）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011680"/>
            <a:ext cx="1645920" cy="1097280"/>
          </a:xfrm>
          <a:prstGeom prst="rect">
            <a:avLst/>
          </a:prstGeom>
          <a:solidFill>
            <a:srgbClr val="3A1A1A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2834640"/>
            <a:ext cx="1371600" cy="1371600"/>
          </a:xfrm>
          <a:prstGeom prst="rect">
            <a:avLst/>
          </a:prstGeom>
          <a:solidFill>
            <a:srgbClr val="3A1A1A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4114800"/>
            <a:ext cx="1828800" cy="731520"/>
          </a:xfrm>
          <a:prstGeom prst="rect">
            <a:avLst/>
          </a:prstGeom>
          <a:solidFill>
            <a:srgbClr val="3A1A1A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4545"/>
                </a:solidFill>
              </a:rPr>
              <a:t>障碍区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828800"/>
            <a:ext cx="228600" cy="2286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676"/>
                </a:solidFill>
              </a:rPr>
              <a:t>S（起点）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0" y="502920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35"/>
                </a:solidFill>
              </a:rPr>
              <a:t>G（终点）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BB"/>
                </a:solidFill>
              </a:rPr>
              <a:t>如何从 S 绕过障碍到达 G？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RRT 核心思想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在配置空间中随机撒点，每次让树朝随机点方向延伸一小步，像「藤蔓」一样蔓延探索，同时跳过碰撞区域，最终长到终点附近。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0574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468880"/>
            <a:ext cx="502920" cy="5029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① 随机采样
q_rand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在整个配置空间随机取一个点
（偶尔直接采样终点，引导方向）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3703320"/>
            <a:ext cx="182880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2377440"/>
            <a:ext cx="20574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468880"/>
            <a:ext cx="502920" cy="5029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063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② 找最近邻
q_near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749039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在已有树节点中找距离
q_rand 最近的节点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703320"/>
            <a:ext cx="182880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377440"/>
            <a:ext cx="20574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468880"/>
            <a:ext cx="502920" cy="5029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63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③ 朝向延伸
q_new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49039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从 q_near 向 q_rand 方向
移动固定步长 Δq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3703320"/>
            <a:ext cx="182880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2377440"/>
            <a:ext cx="20574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0" y="2468880"/>
            <a:ext cx="502920" cy="5029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063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④ 碰撞检测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749039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检查从 q_near 到 q_new
沿途是否有碰撞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182880" cy="274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2377440"/>
            <a:ext cx="20574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95560" y="2468880"/>
            <a:ext cx="502920" cy="5029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063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⑤ 加入树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749039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无碰撞 → 将 q_new 加入树
记录父节点，继续迭代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676"/>
                </a:solidFill>
              </a:rPr>
              <a:t>重复以上步骤，直到树的某个节点距离终点足够近 → 路径找到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缺点：单向 RRT 只从起点生长，终点附近难以被采到，高维空间收敛慢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RRT-Connect：双向加速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07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4545"/>
                </a:solidFill>
              </a:rPr>
              <a:t>单向 RRT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只从起点 S 出发建树
▸  树只朝着随机方向蔓延
▸  终点 G 附近很难被采到
▸  高维空间需要数万次迭代
▸  路径又绕又长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48640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676"/>
                </a:solidFill>
              </a:rPr>
              <a:t>RRT-Connect（双向）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起点 S 和终点 G 各建一棵树
▸  两棵树同时向对方生长
▸  互相「迎合」，收敛速度翻倍
▸  任意一侧都能快速到达中间区域
▸  成功率显著高于单向 RRT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0448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双向连接核心逻辑（每轮迭代）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1.  从树 A 随机采样，延伸一步得到新节点 nₐ
2.  树 B 找到距 nₐ 最近的节点，连续向 nₐ 延伸（Connect 策略）
3.  若树 B 成功触达 nₐ（距离 ≤ 步长），两树相遇 → 路径完成！
4.  否则交换 A / B 角色，进入下一轮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Connect 策略 = 贪心延伸：不只走一步，而是连续朝目标延伸直到碰撞或到达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算法伪代码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5349240"/>
          </a:xfrm>
          <a:prstGeom prst="rect">
            <a:avLst/>
          </a:prstGeom>
          <a:solidFill>
            <a:srgbClr val="0A102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274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8FF"/>
                </a:solidFill>
              </a:rPr>
              <a:t>Algorithm  RRT-Connect(qₛₜₐᵣₜ, qɢₒₐₗ)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5506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973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Tₐ ← {qₛₜₐᵣₜ}；  T_b ← {qɢₒₐₗ}    // 两棵树，分别从起点和终点初始化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820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for i = 1 to MAX_ITER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    q_rand  ← Sample()               // 随机采样（5% 概率直接取对方树的根）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6664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    q_near  ← Nearest(Tₐ, q_rand)    // 找树 A 中最近节点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    q_new   ← Steer(q_near, q_rand)   // 朝 q_rand 方向延伸一步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5127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935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  if CollisionFree(q_near → q_new) 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359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676"/>
                </a:solidFill>
              </a:rPr>
              <a:t>          Tₐ.add(q_new)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7822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        q_near_b ← Nearest(T_b, q_new) // 树 B 中距 q_new 最近的节点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205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>          q_new_b  ← Connect(T_b, q_new)  // 贪心延伸，尽量靠近 q_new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6285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51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        if Reached(q_new_b, q_new) 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676"/>
                </a:solidFill>
              </a:rPr>
              <a:t>              return Path(Tₐ, T_b)       // ✓ 两树相遇，路径找到！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8980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35"/>
                </a:solidFill>
              </a:rPr>
              <a:t>      Swap(Tₐ, T_b)                      // 交换角色，下轮换树 B 主动延伸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744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167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545"/>
                </a:solidFill>
              </a:rPr>
              <a:t>  return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590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BB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关键参数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步长  Δq (expand)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5564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每次延伸的最大距离
太大：容易碰障碍
太小：树生长慢
典型值：0.05 ~ 0.15 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分辨率  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5564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4708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碰撞检测的采样间隔
步长内每隔 res 检查一次
越小越安全但越慢
典型值：0.01 ~ 0.05 rad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98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终点偏置  goal_rate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75564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4708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直接朝终点采样的概率
增大 → 收敛快但多样性差
减小 → 探索全面但慢
典型值：5% ~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58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最大迭代  max_iter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1596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07407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迭代上限，超时返回失败
场景越复杂需要越大
静态障碍：8000~15000
动态重规划：20000+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858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关节限位  limits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31596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407407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各关节角度合法范围
采样只在限位内进行
防止规划出超限姿态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56616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58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距离度量  metric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4315968"/>
            <a:ext cx="3291840" cy="127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407407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衡量两个配置的「距离」
通常用欧氏距离（弧度）
可加权以平衡各关节影响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路径平滑：Shortcut Smoothing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RRT 路径因随机性有大量冗余弯折。平滑算法：随机选两个不相邻路径点，若可直连（无碰撞）则删除中间所有点，反复迭代。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6217920" cy="3200400"/>
          </a:xfrm>
          <a:prstGeom prst="rect">
            <a:avLst/>
          </a:prstGeom>
          <a:solidFill>
            <a:srgbClr val="0A102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伪代码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
for _ in range(max_iter):
    i ← random(0, len-2)
    j ← random(i+1, len-1)
    if CollisionFree(path[i] → path[j]):
        path = path[:i+1] + path[j:]  # 删中间点
# 路径更短，转折更少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240280"/>
            <a:ext cx="475488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30428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效果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788920"/>
            <a:ext cx="4754880" cy="566928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80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</a:rPr>
              <a:t>平滑前路径点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8803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4545"/>
                </a:solidFill>
              </a:rPr>
              <a:t>484 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429000"/>
            <a:ext cx="4754880" cy="566928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520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</a:rPr>
              <a:t>平滑后路径点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5204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E676"/>
                </a:solidFill>
              </a:rPr>
              <a:t>249 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4069079"/>
            <a:ext cx="4754880" cy="566928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160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</a:rPr>
              <a:t>路径压缩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16051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6B35"/>
                </a:solidFill>
              </a:rPr>
              <a:t>约 48%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709159"/>
            <a:ext cx="4754880" cy="566928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80059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</a:rPr>
              <a:t>碰撞次数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80059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E676"/>
                </a:solidFill>
              </a:rPr>
              <a:t>0（不变）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77840"/>
            <a:ext cx="1124712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65099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直觉：RRT 路径像「醉汉走路」（随机绕弯），Shortcut 像「走捷径」（能直连就跳过）
平滑不改变起终点，只删除冗余中间点，碰撞约束始终满足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与其他算法对比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01168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143000"/>
            <a:ext cx="164592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17043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43000"/>
            <a:ext cx="146304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170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最优性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143000"/>
            <a:ext cx="146304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1704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速度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143000"/>
            <a:ext cx="164592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17043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高维适用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143000"/>
            <a:ext cx="2834640" cy="502920"/>
          </a:xfrm>
          <a:prstGeom prst="rect">
            <a:avLst/>
          </a:prstGeom>
          <a:solidFill>
            <a:srgbClr val="0A3D6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17043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FF"/>
                </a:solidFill>
              </a:rPr>
              <a:t>适用场景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37360"/>
            <a:ext cx="2011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8470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7373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18470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图搜索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7373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18470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✓ 最优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7373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3872" y="18470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373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18470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4545"/>
                </a:solidFill>
              </a:rPr>
              <a:t>✗ 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737360"/>
            <a:ext cx="28346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1847088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低维、离散空间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23160"/>
            <a:ext cx="201168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5328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423160"/>
            <a:ext cx="164592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42032" y="25328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采样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423160"/>
            <a:ext cx="146304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25328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近似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423160"/>
            <a:ext cx="146304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25328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423160"/>
            <a:ext cx="164592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25328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✓ 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423160"/>
            <a:ext cx="2834640" cy="621792"/>
          </a:xfrm>
          <a:prstGeom prst="rect">
            <a:avLst/>
          </a:prstGeom>
          <a:solidFill>
            <a:srgbClr val="1A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5712" y="2532888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多次查询同场景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108960"/>
            <a:ext cx="2011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2186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1089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2032" y="32186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采样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1089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9392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4545"/>
                </a:solidFill>
              </a:rPr>
              <a:t>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1089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3872" y="32186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快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31089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32186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✓ 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3108960"/>
            <a:ext cx="28346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3218688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单次查询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794760"/>
            <a:ext cx="201168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9044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35"/>
                </a:solidFill>
              </a:rPr>
              <a:t>RRT-Connect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794760"/>
            <a:ext cx="164592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2032" y="39044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FF"/>
                </a:solidFill>
              </a:rPr>
              <a:t>采样双向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3794760"/>
            <a:ext cx="146304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9392" y="39044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4545"/>
                </a:solidFill>
              </a:rPr>
              <a:t>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3794760"/>
            <a:ext cx="146304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39044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FF"/>
                </a:solidFill>
              </a:rPr>
              <a:t>更快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3794760"/>
            <a:ext cx="164592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8352" y="39044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676"/>
                </a:solidFill>
              </a:rPr>
              <a:t>✓ 好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2560" y="3794760"/>
            <a:ext cx="2834640" cy="621792"/>
          </a:xfrm>
          <a:prstGeom prst="rect">
            <a:avLst/>
          </a:prstGeom>
          <a:solidFill>
            <a:srgbClr val="0A2845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25712" y="3904488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C8FF"/>
                </a:solidFill>
              </a:rPr>
              <a:t>单次查询、实时规划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480560"/>
            <a:ext cx="201168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45902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RRT*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44805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42032" y="4590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采样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44805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79392" y="45902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✓ 渐近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4480560"/>
            <a:ext cx="14630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33872" y="45902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慢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4480560"/>
            <a:ext cx="1645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88352" y="459028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✓ 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4480560"/>
            <a:ext cx="283464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25712" y="4590288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需要最优路径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</a:rPr>
              <a:t>▲ RRT-Connect 在速度与通用性之间取得最佳平衡，是实时机器人规划的工业标准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4864" cy="8229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在配置空间随机采样，用两棵树从起点和终点同时生长，相遇即找到路径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4864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</a:rPr>
              <a:t>双向加速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783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Connect 策略使树 B 贪心延伸，两棵树互相迎合，收敛速度远高于单向 RRT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154680"/>
            <a:ext cx="54864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平滑优化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Shortcut Smoothing 删除冗余路径点，路径更短更平滑，不影响无碰撞性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154680"/>
            <a:ext cx="54864" cy="8229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108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概率完备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采样足够多时，一定能找到路径（若存在）；障碍越少，越快找到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937760"/>
            <a:ext cx="54864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</a:rPr>
              <a:t>工程优势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只需碰撞检测接口，不需要解析障碍形状，易于集成任意仿真环境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4864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937760"/>
            <a:ext cx="54864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892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</a:rPr>
              <a:t>局限性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349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路径非最优（需 RRT* 改进）；高度狭窄通道场景成功率下降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282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BB"/>
                </a:solidFill>
              </a:rPr>
              <a:t>RRT-Connect  —  快速、通用、易实现，机器人运动规划领域最广泛使用的算法之一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